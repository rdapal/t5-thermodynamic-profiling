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8" r:id="rId10"/>
    <p:sldId id="267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62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304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75DB2-453F-CA3E-31D7-5030D79DF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2E335-632E-8462-FD02-5192BB026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4A62C-7ECE-4AEC-CF54-B91E5C8EB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39998-E2D5-4C8E-10B9-58F1DAABA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22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37BFA-FCE6-DEF9-BE7B-EC831CF2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D85CA-3FD4-5FA2-B7FC-D337B911A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CD203-833C-6419-41D3-F27BB479A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385EA-AB3F-05C5-2971-09CCB0D353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01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D4877-AB54-2910-9620-939FE4B1F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C7A30-646A-CDB0-6B7F-99138D8F1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B18194-B022-0C22-D2A0-C2967DF62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4CDFF-9FCA-7CF3-FEC3-7DEB89807F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8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in
</a:t>
            </a:r>
            <a:r>
              <a:rPr lang="en-US" sz="48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Design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Energy Profiling of T5 Workloads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Ada Generation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347472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3795059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Raphael Dapalma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597 | McGill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Workload: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T5 (220M)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99319"/>
            <a:ext cx="4114800" cy="246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every NLP task uniformly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NVIDIA RTX 5000 Ada (32GB VRAM, 250W TDP).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MilaBench in-memory dataset bypasses PCIe storage bottlenecks which guaranteed ~</a:t>
            </a: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GPU compute saturation.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4655099" y="1290384"/>
            <a:ext cx="4419985" cy="3597662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55099" y="1290384"/>
            <a:ext cx="4419985" cy="3597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7D8505-5D55-4B1D-B8C6-540A97923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2041" y="1326776"/>
            <a:ext cx="4319547" cy="1624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AB2E50-8619-B90E-80BB-DECF1A3A5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039" y="2951096"/>
            <a:ext cx="4319547" cy="190179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357038-9F09-EFBA-A486-6F9A5F39E9D7}"/>
              </a:ext>
            </a:extLst>
          </p:cNvPr>
          <p:cNvSpPr/>
          <p:nvPr/>
        </p:nvSpPr>
        <p:spPr>
          <a:xfrm>
            <a:off x="457200" y="1162424"/>
            <a:ext cx="4114800" cy="5749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Unified “Text-to-Text”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073B7-FE11-45A8-7439-FDE7EB7BC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213502-B9D1-D78A-693A-78B0D3741905}"/>
              </a:ext>
            </a:extLst>
          </p:cNvPr>
          <p:cNvSpPr/>
          <p:nvPr/>
        </p:nvSpPr>
        <p:spPr>
          <a:xfrm>
            <a:off x="576729" y="1162424"/>
            <a:ext cx="8032377" cy="574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EA5C268-BDA5-67A4-6845-02692C5FD1A8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103B0E-FC86-FC5B-BF67-9125F6563BB7}"/>
              </a:ext>
            </a:extLst>
          </p:cNvPr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2EA29B-75F6-CBC2-8D3D-8C350630965F}"/>
              </a:ext>
            </a:extLst>
          </p:cNvPr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x 3 Experimental Matrix: </a:t>
            </a: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Sizes (8,4,2) across 3 Repetitions.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bounded to 300-second execution windows.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7BAFAB4-7576-83F6-9E02-B3EB8F3FC716}"/>
              </a:ext>
            </a:extLst>
          </p:cNvPr>
          <p:cNvSpPr/>
          <p:nvPr/>
        </p:nvSpPr>
        <p:spPr>
          <a:xfrm>
            <a:off x="576729" y="2042160"/>
            <a:ext cx="7637631" cy="2545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800"/>
              </a:lnSpc>
              <a:buSzPct val="100000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Distinct Execution Modes per Repetition: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NOOP Baseline: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end-to-end execution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CodeCarbon</a:t>
            </a: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Software-level energy tracking baseline.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Fine-Grained Timeline: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Non-blocking NVML polling (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/>
              </a:rPr>
              <a:t>≥ 500 </a:t>
            </a:r>
            <a:r>
              <a:rPr lang="en-US" sz="1600" b="0" i="0" dirty="0" err="1">
                <a:solidFill>
                  <a:srgbClr val="475569"/>
                </a:solidFill>
                <a:effectLst/>
                <a:latin typeface="Inter"/>
              </a:rPr>
              <a:t>ms</a:t>
            </a:r>
            <a:r>
              <a:rPr lang="en-US" sz="1600" b="0" i="0" dirty="0">
                <a:solidFill>
                  <a:srgbClr val="475569"/>
                </a:solidFill>
                <a:effectLst/>
                <a:latin typeface="Inter"/>
              </a:rPr>
              <a:t>).</a:t>
            </a:r>
            <a:endParaRPr lang="en-US" sz="1600" dirty="0">
              <a:solidFill>
                <a:srgbClr val="475569"/>
              </a:solidFill>
              <a:latin typeface="Inter"/>
            </a:endParaRP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 Isolated: </a:t>
            </a:r>
            <a:r>
              <a:rPr lang="en-US" sz="1600" i="0" dirty="0">
                <a:solidFill>
                  <a:srgbClr val="47556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Forward, Backward, and Optimizer runs.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Forced I/O:</a:t>
            </a:r>
            <a:r>
              <a:rPr lang="en-US" sz="1600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Deliberate Checkpoint stalls</a:t>
            </a:r>
          </a:p>
          <a:p>
            <a:pPr>
              <a:lnSpc>
                <a:spcPts val="2800"/>
              </a:lnSpc>
              <a:buSzPct val="100000"/>
            </a:pPr>
            <a:endParaRPr lang="en-US" sz="1600" dirty="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00"/>
              </a:lnSpc>
              <a:buSzPct val="100000"/>
            </a:pPr>
            <a:r>
              <a:rPr lang="en-US" sz="1600" i="1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Filtered out the initial JIT Compilation spikes by discarding the first 6 warmup steps</a:t>
            </a:r>
          </a:p>
        </p:txBody>
      </p:sp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E425B3F9-B5E1-8E11-4B89-5024C8199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4360" y="914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2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0AC492-ECDC-4919-5025-10F857A40D88}"/>
              </a:ext>
            </a:extLst>
          </p:cNvPr>
          <p:cNvSpPr/>
          <p:nvPr/>
        </p:nvSpPr>
        <p:spPr>
          <a:xfrm>
            <a:off x="576729" y="1162424"/>
            <a:ext cx="8032377" cy="574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Defeating the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Effect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Phase-decoupled profiling eliminates pipeline-destroying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synchronization stalls, maintaining &lt; 3% overhead.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30967" y="1803169"/>
            <a:ext cx="4968870" cy="3258538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D2DBE9-F1B5-FD1F-290A-16FFBA14F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825" y="1829927"/>
            <a:ext cx="4878508" cy="31999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E19EFC-401A-C444-6E21-042D8D61D16D}"/>
              </a:ext>
            </a:extLst>
          </p:cNvPr>
          <p:cNvSpPr/>
          <p:nvPr/>
        </p:nvSpPr>
        <p:spPr>
          <a:xfrm>
            <a:off x="576729" y="1162424"/>
            <a:ext cx="8032377" cy="574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"Zero Dark Time"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independently isolated phases matches the un-instrumented baseline, proving no hidden PCIe/CPU starvation.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64E060CF-1C28-B002-8ED6-91886C5BE8A7}"/>
              </a:ext>
            </a:extLst>
          </p:cNvPr>
          <p:cNvSpPr/>
          <p:nvPr/>
        </p:nvSpPr>
        <p:spPr>
          <a:xfrm>
            <a:off x="2180368" y="1818875"/>
            <a:ext cx="5007401" cy="3269031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E5F3CA-155C-0D8C-DCDD-111EBEC0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733" y="1850436"/>
            <a:ext cx="4910668" cy="3208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Throughput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TDP Ceiling: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configurations locked at ~64,000 Joules across 300s.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Scaling: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Halving the batch size dramatically inflates total steps completed.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Limit: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8 is the physical maximum due to 19GB backpropagation caching.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91000" y="1371599"/>
            <a:ext cx="4772070" cy="3553669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91000" y="1371599"/>
            <a:ext cx="4772070" cy="35536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05207C-BBA2-117B-E664-70F51B913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329" y="1403771"/>
            <a:ext cx="4691529" cy="3484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86FCEE-F772-3686-F700-565B86F86F80}"/>
              </a:ext>
            </a:extLst>
          </p:cNvPr>
          <p:cNvSpPr/>
          <p:nvPr/>
        </p:nvSpPr>
        <p:spPr>
          <a:xfrm>
            <a:off x="576729" y="1162424"/>
            <a:ext cx="8032377" cy="574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vs. Efficiency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batch sizes process more samples at a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significantly lower energy cost per sample.</a:t>
            </a:r>
            <a:endParaRPr lang="en-US" sz="16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CE59B4C-2F52-C031-12F6-CC2E14F69A8B}"/>
              </a:ext>
            </a:extLst>
          </p:cNvPr>
          <p:cNvSpPr/>
          <p:nvPr/>
        </p:nvSpPr>
        <p:spPr>
          <a:xfrm>
            <a:off x="2114540" y="1792352"/>
            <a:ext cx="5245796" cy="3299514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0B01DA-4EE4-FC86-5967-685DD4D37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7506" y="1835256"/>
            <a:ext cx="5163669" cy="3219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Optimizer Penalty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Scaling: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&amp; Backward passes shrink proportionally with data volume.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Penalty: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 stays locked at ~38ms.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Waste: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BS=2, 28% of energy is wasted strictly on fixed-cost updates.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69499" y="1371600"/>
            <a:ext cx="4839764" cy="3604080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86DA42-4AB2-AE13-6A87-10764529E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400" y="1405466"/>
            <a:ext cx="4757766" cy="3532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28E2E-3BB7-C624-E791-DBF63E07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527085-CB10-87B6-9043-2F78C98C7B46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&amp; Stability 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E8BA6D-7B18-4EEF-09A0-2331D18C73C6}"/>
              </a:ext>
            </a:extLst>
          </p:cNvPr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7F95BC4-DF51-EAA1-3201-DACE3607A7D6}"/>
              </a:ext>
            </a:extLst>
          </p:cNvPr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Variance: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bars are practically imperceptible.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 Filtering: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Discarding JIT spikes isolates steady-state execution</a:t>
            </a:r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Thermodynamics: 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Proves we captured the true hardware baseline</a:t>
            </a:r>
            <a:endParaRPr lang="en-US" sz="1600" b="1" dirty="0">
              <a:solidFill>
                <a:srgbClr val="47556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047DB1F-2359-2C94-E97C-42308697CEC2}"/>
              </a:ext>
            </a:extLst>
          </p:cNvPr>
          <p:cNvSpPr/>
          <p:nvPr/>
        </p:nvSpPr>
        <p:spPr>
          <a:xfrm>
            <a:off x="4169499" y="1371600"/>
            <a:ext cx="4839764" cy="3604080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FAD4E7-45FA-2580-E89B-127060562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899" y="1403350"/>
            <a:ext cx="4797429" cy="354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7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1032-D4B6-131C-8F8C-48891064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D514ED-8D9D-F907-B953-BD372360515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Dispatching &amp;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"Idle" GPUs</a:t>
            </a:r>
            <a:endParaRPr lang="en-US" sz="3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0A1FC9-2B5A-0078-B500-E42F60C0111C}"/>
              </a:ext>
            </a:extLst>
          </p:cNvPr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AD3057-D600-7F86-6DC6-EAA14267C20A}"/>
              </a:ext>
            </a:extLst>
          </p:cNvPr>
          <p:cNvSpPr/>
          <p:nvPr/>
        </p:nvSpPr>
        <p:spPr>
          <a:xfrm>
            <a:off x="457200" y="1422401"/>
            <a:ext cx="3657600" cy="29121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The </a:t>
            </a:r>
            <a:r>
              <a:rPr lang="en-US" b="1" dirty="0" err="1">
                <a:solidFill>
                  <a:schemeClr val="tx2"/>
                </a:solidFill>
              </a:rPr>
              <a:t>psutil</a:t>
            </a:r>
            <a:r>
              <a:rPr lang="en-US" sz="1600" b="1" dirty="0">
                <a:solidFill>
                  <a:schemeClr val="tx2"/>
                </a:solidFill>
              </a:rPr>
              <a:t> Quirk: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cpu_percent</a:t>
            </a:r>
            <a:r>
              <a:rPr lang="en-US" dirty="0">
                <a:solidFill>
                  <a:schemeClr val="tx2"/>
                </a:solidFill>
              </a:rPr>
              <a:t>()</a:t>
            </a:r>
            <a:r>
              <a:rPr lang="en-US" sz="1600" dirty="0">
                <a:solidFill>
                  <a:schemeClr val="tx2"/>
                </a:solidFill>
              </a:rPr>
              <a:t> averages across all 192 node cores (~1.5% = 4 saturated logical cores).</a:t>
            </a:r>
          </a:p>
          <a:p>
            <a:pPr>
              <a:buSzPct val="100000"/>
            </a:pPr>
            <a:endParaRPr lang="en-US" sz="1600" b="1" dirty="0">
              <a:solidFill>
                <a:schemeClr val="tx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BS=2 Step Time: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138ms</a:t>
            </a:r>
          </a:p>
          <a:p>
            <a:pPr>
              <a:buSzPct val="100000"/>
            </a:pPr>
            <a:endParaRPr lang="en-US" sz="1600" dirty="0">
              <a:solidFill>
                <a:schemeClr val="tx2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Dispatches: </a:t>
            </a:r>
            <a:r>
              <a: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7 per sec</a:t>
            </a:r>
          </a:p>
          <a:p>
            <a:pPr>
              <a:buSzPct val="100000"/>
            </a:pPr>
            <a:endParaRPr lang="en-US" sz="1600" dirty="0">
              <a:solidFill>
                <a:schemeClr val="tx2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r>
              <a:rPr lang="en-US" sz="1600" dirty="0">
                <a:solidFill>
                  <a:schemeClr val="tx2"/>
                </a:solidFill>
              </a:rPr>
              <a:t>CPU orchestration bottlenecks the GPU pipeline.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6B302A-DDBE-A8C5-1D0C-7C50CE486870}"/>
              </a:ext>
            </a:extLst>
          </p:cNvPr>
          <p:cNvSpPr/>
          <p:nvPr/>
        </p:nvSpPr>
        <p:spPr>
          <a:xfrm>
            <a:off x="4020749" y="1220046"/>
            <a:ext cx="4941792" cy="3680058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BF62C4-D6A3-7A5D-26E2-6B2A31FC7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766" y="1245852"/>
            <a:ext cx="4855634" cy="361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0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>
            <a:extLst>
              <a:ext uri="{FF2B5EF4-FFF2-40B4-BE49-F238E27FC236}">
                <a16:creationId xmlns:a16="http://schemas.microsoft.com/office/drawing/2014/main" id="{C4A72D67-9013-7C5C-A545-25DAC69F169B}"/>
              </a:ext>
            </a:extLst>
          </p:cNvPr>
          <p:cNvSpPr/>
          <p:nvPr/>
        </p:nvSpPr>
        <p:spPr>
          <a:xfrm>
            <a:off x="2043041" y="1771585"/>
            <a:ext cx="5640961" cy="3292475"/>
          </a:xfrm>
          <a:prstGeom prst="rect">
            <a:avLst/>
          </a:prstGeom>
          <a:solidFill>
            <a:srgbClr val="EBF5FB"/>
          </a:solidFill>
          <a:ln w="25400">
            <a:solidFill>
              <a:srgbClr val="3498D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237DC8-B6BE-C6A3-D7A5-740B7354FCDE}"/>
              </a:ext>
            </a:extLst>
          </p:cNvPr>
          <p:cNvSpPr/>
          <p:nvPr/>
        </p:nvSpPr>
        <p:spPr>
          <a:xfrm>
            <a:off x="576729" y="1162424"/>
            <a:ext cx="8032377" cy="5749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Unmasking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Bottlenecks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Checkpoints (891MB) crash GPU utilization to 0% and drop temps from 64°C to 49°C.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9352D-91A7-598D-CEB3-0A14D4D59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788" y="1797519"/>
            <a:ext cx="5549153" cy="3231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</a:t>
            </a:r>
            <a:r>
              <a:rPr lang="en-US" sz="36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EBF5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batches to the physical VRAM ceiling.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batches waste energy on O(1) Optimizer updates.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kernel dispatching causes CPU-induced GPU micro-stalls.</a:t>
            </a:r>
            <a:endParaRPr lang="en-US" sz="20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stalls completely starve compute logic.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488</Words>
  <Application>Microsoft Office PowerPoint</Application>
  <PresentationFormat>On-screen Show (16:9)</PresentationFormat>
  <Paragraphs>69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Raphael Dapalma</cp:lastModifiedBy>
  <cp:revision>11</cp:revision>
  <dcterms:created xsi:type="dcterms:W3CDTF">2026-04-08T20:31:44Z</dcterms:created>
  <dcterms:modified xsi:type="dcterms:W3CDTF">2026-04-10T00:20:35Z</dcterms:modified>
</cp:coreProperties>
</file>